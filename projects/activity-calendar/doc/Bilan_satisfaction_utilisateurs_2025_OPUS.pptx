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12"/>
  </p:notesMasterIdLst>
  <p:sldIdLst>
    <p:sldId id="257" r:id="rId3"/>
    <p:sldId id="291" r:id="rId4"/>
    <p:sldId id="383" r:id="rId5"/>
    <p:sldId id="382" r:id="rId6"/>
    <p:sldId id="384" r:id="rId7"/>
    <p:sldId id="356" r:id="rId8"/>
    <p:sldId id="376" r:id="rId9"/>
    <p:sldId id="385" r:id="rId10"/>
    <p:sldId id="293" r:id="rId11"/>
  </p:sldIdLst>
  <p:sldSz cx="1343977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izic LARRANAGA" initials="SL" lastIdx="1" clrIdx="0">
    <p:extLst>
      <p:ext uri="{19B8F6BF-5375-455C-9EA6-DF929625EA0E}">
        <p15:presenceInfo xmlns:p15="http://schemas.microsoft.com/office/powerpoint/2012/main" userId="S-1-5-21-500109986-1412980772-1848903544-3234707" providerId="AD"/>
      </p:ext>
    </p:extLst>
  </p:cmAuthor>
  <p:cmAuthor id="2" name="Charlene SPAGNOL, Ifremer Brest PDG-RBE-HISSEO, " initials="CSIBP" lastIdx="2" clrIdx="1">
    <p:extLst>
      <p:ext uri="{19B8F6BF-5375-455C-9EA6-DF929625EA0E}">
        <p15:presenceInfo xmlns:p15="http://schemas.microsoft.com/office/powerpoint/2012/main" userId="S-1-5-21-500109986-1412980772-1848903544-321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C3287"/>
    <a:srgbClr val="CC0099"/>
    <a:srgbClr val="FCA8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8" autoAdjust="0"/>
    <p:restoredTop sz="96357" autoAdjust="0"/>
  </p:normalViewPr>
  <p:slideViewPr>
    <p:cSldViewPr snapToGrid="0">
      <p:cViewPr varScale="1">
        <p:scale>
          <a:sx n="100" d="100"/>
          <a:sy n="100" d="100"/>
        </p:scale>
        <p:origin x="720" y="78"/>
      </p:cViewPr>
      <p:guideLst>
        <p:guide orient="horz" pos="2381"/>
        <p:guide pos="423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larrana\Documents\SIH\Opus%20activit&#233;\BILANS\Satisfaction-Opus-Activite-2025-04-08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slarrana\Documents\SIH\Opus%20activit&#233;\BILANS\Satisfaction-Opus-Activite-2025-04-08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slarrana\Documents\SIH\Opus%20activit&#233;\BILANS\Satisfaction-Opus-Activite-2025-04-08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larrana\Documents\SIH\Opus%20activit&#233;\BILANS\Satisfaction-Opus-Activite-2025-04-08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hade val="51000"/>
                      <a:satMod val="130000"/>
                    </a:schemeClr>
                  </a:gs>
                  <a:gs pos="80000">
                    <a:schemeClr val="accent1">
                      <a:tint val="65000"/>
                      <a:shade val="93000"/>
                      <a:satMod val="130000"/>
                    </a:schemeClr>
                  </a:gs>
                  <a:gs pos="100000">
                    <a:schemeClr val="accent1">
                      <a:tint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2AE9-4EF6-8BE8-96B9A7B8D34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2AE9-4EF6-8BE8-96B9A7B8D34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hade val="51000"/>
                      <a:satMod val="130000"/>
                    </a:schemeClr>
                  </a:gs>
                  <a:gs pos="80000">
                    <a:schemeClr val="accent1">
                      <a:shade val="65000"/>
                      <a:shade val="93000"/>
                      <a:satMod val="130000"/>
                    </a:schemeClr>
                  </a:gs>
                  <a:gs pos="100000">
                    <a:schemeClr val="accent1">
                      <a:shade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2AE9-4EF6-8BE8-96B9A7B8D3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Worksheet!$A$36:$A$38</c:f>
              <c:strCache>
                <c:ptCount val="3"/>
                <c:pt idx="0">
                  <c:v>très insatisfait</c:v>
                </c:pt>
                <c:pt idx="1">
                  <c:v>satisfait</c:v>
                </c:pt>
                <c:pt idx="2">
                  <c:v>très satisfait</c:v>
                </c:pt>
              </c:strCache>
            </c:strRef>
          </c:cat>
          <c:val>
            <c:numRef>
              <c:f>Worksheet!$B$36:$B$38</c:f>
              <c:numCache>
                <c:formatCode>General</c:formatCode>
                <c:ptCount val="3"/>
                <c:pt idx="0">
                  <c:v>1</c:v>
                </c:pt>
                <c:pt idx="1">
                  <c:v>18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EF6-8BE8-96B9A7B8D34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8683320967857741"/>
          <c:y val="2.8945598110504976E-2"/>
          <c:w val="0.48087499700835268"/>
          <c:h val="0.84657682827501979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BF87-4DAA-BBB7-E3DB5BB58E20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BF87-4DAA-BBB7-E3DB5BB58E20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BF87-4DAA-BBB7-E3DB5BB58E20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BF87-4DAA-BBB7-E3DB5BB58E20}"/>
              </c:ext>
            </c:extLst>
          </c:dPt>
          <c:cat>
            <c:strRef>
              <c:f>Worksheet!$F$1:$L$1</c:f>
              <c:strCache>
                <c:ptCount val="7"/>
                <c:pt idx="0">
                  <c:v>Stabilité des fonctionnalités de l'application</c:v>
                </c:pt>
                <c:pt idx="1">
                  <c:v>Temps passé à la saisie des CA</c:v>
                </c:pt>
                <c:pt idx="2">
                  <c:v>Ergonomie générale et prise en main</c:v>
                </c:pt>
                <c:pt idx="3">
                  <c:v>Fluidité et rapidité d'affichage</c:v>
                </c:pt>
                <c:pt idx="4">
                  <c:v>Formation à l'outil (format, contenu et durée)</c:v>
                </c:pt>
                <c:pt idx="5">
                  <c:v>Documentation et manuel utilisateur </c:v>
                </c:pt>
                <c:pt idx="6">
                  <c:v>Réactivité des équipes support</c:v>
                </c:pt>
              </c:strCache>
            </c:strRef>
          </c:cat>
          <c:val>
            <c:numRef>
              <c:f>Worksheet!$F$27:$L$27</c:f>
              <c:numCache>
                <c:formatCode>0</c:formatCode>
                <c:ptCount val="7"/>
                <c:pt idx="0">
                  <c:v>3.2</c:v>
                </c:pt>
                <c:pt idx="1">
                  <c:v>3.32</c:v>
                </c:pt>
                <c:pt idx="2">
                  <c:v>3.36</c:v>
                </c:pt>
                <c:pt idx="3">
                  <c:v>3.28</c:v>
                </c:pt>
                <c:pt idx="4">
                  <c:v>3.52</c:v>
                </c:pt>
                <c:pt idx="5">
                  <c:v>3.3636363636363638</c:v>
                </c:pt>
                <c:pt idx="6">
                  <c:v>3.9130434782608696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87-4DAA-BBB7-E3DB5BB58E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788196687"/>
        <c:axId val="788200847"/>
      </c:barChart>
      <c:catAx>
        <c:axId val="788196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800" b="1" i="0" u="none" strike="noStrike" kern="1200" baseline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200847"/>
        <c:crosses val="autoZero"/>
        <c:auto val="1"/>
        <c:lblAlgn val="r"/>
        <c:lblOffset val="100"/>
        <c:noMultiLvlLbl val="0"/>
      </c:catAx>
      <c:valAx>
        <c:axId val="788200847"/>
        <c:scaling>
          <c:orientation val="minMax"/>
          <c:max val="4"/>
          <c:min val="1"/>
        </c:scaling>
        <c:delete val="0"/>
        <c:axPos val="b"/>
        <c:majorGridlines>
          <c:spPr>
            <a:ln w="9525" cap="flat" cmpd="sng" algn="ctr">
              <a:solidFill>
                <a:srgbClr val="E7E6E6">
                  <a:lumMod val="50000"/>
                </a:srgb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19668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5B9BD5">
        <a:alpha val="50000"/>
      </a:srgbClr>
    </a:solidFill>
    <a:ln>
      <a:noFill/>
    </a:ln>
    <a:effectLst/>
  </c:spPr>
  <c:txPr>
    <a:bodyPr/>
    <a:lstStyle/>
    <a:p>
      <a:pPr>
        <a:defRPr>
          <a:solidFill>
            <a:sysClr val="window" lastClr="FFFFFF"/>
          </a:solidFill>
          <a:latin typeface="+mn-lt"/>
          <a:ea typeface="+mn-ea"/>
          <a:cs typeface="+mn-cs"/>
        </a:defRPr>
      </a:pPr>
      <a:endParaRPr lang="fr-F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</a:p>
        </c:rich>
      </c:tx>
      <c:layout>
        <c:manualLayout>
          <c:xMode val="edge"/>
          <c:yMode val="edge"/>
          <c:x val="0.10008172141065885"/>
          <c:y val="0.130415111481060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hade val="51000"/>
                      <a:satMod val="130000"/>
                    </a:schemeClr>
                  </a:gs>
                  <a:gs pos="80000">
                    <a:schemeClr val="accent1">
                      <a:tint val="65000"/>
                      <a:shade val="93000"/>
                      <a:satMod val="130000"/>
                    </a:schemeClr>
                  </a:gs>
                  <a:gs pos="100000">
                    <a:schemeClr val="accent1">
                      <a:tint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21B-481A-9454-1FEC368F840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21B-481A-9454-1FEC368F840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hade val="51000"/>
                      <a:satMod val="130000"/>
                    </a:schemeClr>
                  </a:gs>
                  <a:gs pos="80000">
                    <a:schemeClr val="accent1">
                      <a:shade val="65000"/>
                      <a:shade val="93000"/>
                      <a:satMod val="130000"/>
                    </a:schemeClr>
                  </a:gs>
                  <a:gs pos="100000">
                    <a:schemeClr val="accent1">
                      <a:shade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021B-481A-9454-1FEC368F840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Feuil2!$A$53:$A$55</c:f>
              <c:strCache>
                <c:ptCount val="3"/>
                <c:pt idx="0">
                  <c:v>Peu satisfait (2)</c:v>
                </c:pt>
                <c:pt idx="1">
                  <c:v>Satisfait (3)</c:v>
                </c:pt>
                <c:pt idx="2">
                  <c:v>Totalement satisfait (4)</c:v>
                </c:pt>
              </c:strCache>
            </c:strRef>
          </c:cat>
          <c:val>
            <c:numRef>
              <c:f>Feuil2!$B$53:$B$55</c:f>
              <c:numCache>
                <c:formatCode>General</c:formatCode>
                <c:ptCount val="3"/>
                <c:pt idx="0">
                  <c:v>37</c:v>
                </c:pt>
                <c:pt idx="1">
                  <c:v>110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1B-481A-9454-1FEC368F840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</a:p>
        </c:rich>
      </c:tx>
      <c:layout>
        <c:manualLayout>
          <c:xMode val="edge"/>
          <c:yMode val="edge"/>
          <c:x val="1.6871561637306111E-3"/>
          <c:y val="0.128147087294064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hade val="51000"/>
                      <a:satMod val="130000"/>
                    </a:schemeClr>
                  </a:gs>
                  <a:gs pos="80000">
                    <a:schemeClr val="accent1">
                      <a:tint val="65000"/>
                      <a:shade val="93000"/>
                      <a:satMod val="130000"/>
                    </a:schemeClr>
                  </a:gs>
                  <a:gs pos="100000">
                    <a:schemeClr val="accent1">
                      <a:tint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BD26-4211-950E-72DCB8B407E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BD26-4211-950E-72DCB8B407E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hade val="51000"/>
                      <a:satMod val="130000"/>
                    </a:schemeClr>
                  </a:gs>
                  <a:gs pos="80000">
                    <a:schemeClr val="accent1">
                      <a:shade val="65000"/>
                      <a:shade val="93000"/>
                      <a:satMod val="130000"/>
                    </a:schemeClr>
                  </a:gs>
                  <a:gs pos="100000">
                    <a:schemeClr val="accent1">
                      <a:shade val="65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BD26-4211-950E-72DCB8B407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Feuil2!$A$59:$A$61</c:f>
              <c:strCache>
                <c:ptCount val="3"/>
                <c:pt idx="0">
                  <c:v>Peu satisfait (2)</c:v>
                </c:pt>
                <c:pt idx="1">
                  <c:v>Satisfait (3)</c:v>
                </c:pt>
                <c:pt idx="2">
                  <c:v>Totalement satisfait (4)</c:v>
                </c:pt>
              </c:strCache>
            </c:strRef>
          </c:cat>
          <c:val>
            <c:numRef>
              <c:f>Feuil2!$B$59:$B$61</c:f>
              <c:numCache>
                <c:formatCode>General</c:formatCode>
                <c:ptCount val="3"/>
                <c:pt idx="0">
                  <c:v>48</c:v>
                </c:pt>
                <c:pt idx="1">
                  <c:v>143</c:v>
                </c:pt>
                <c:pt idx="2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26-4211-950E-72DCB8B407E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5C405-5BA5-4329-967C-8484F3661CCB}" type="datetimeFigureOut">
              <a:rPr lang="fr-FR" smtClean="0"/>
              <a:t>16/04/2025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A7D13-1D15-48D6-B7B7-580B60903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68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sans parten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1C27D597-0462-3501-7E5D-D9D2C9C132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7" y="367649"/>
            <a:ext cx="889671" cy="780539"/>
          </a:xfrm>
          <a:prstGeom prst="rect">
            <a:avLst/>
          </a:prstGeom>
        </p:spPr>
      </p:pic>
      <p:pic>
        <p:nvPicPr>
          <p:cNvPr id="8" name="Image 7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8C7CFAB8-CA48-0F6B-42F7-E4D71808A6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08" y="324469"/>
            <a:ext cx="1930549" cy="681371"/>
          </a:xfrm>
          <a:prstGeom prst="rect">
            <a:avLst/>
          </a:prstGeom>
        </p:spPr>
      </p:pic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CEA0C62F-281B-1211-066C-495D9D1D8E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64" y="1463359"/>
            <a:ext cx="13439775" cy="6096316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2F876BB-55E7-81A2-DED6-561C788C9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387" y="2487458"/>
            <a:ext cx="10311785" cy="905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diaporama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61854-B167-B250-A47D-349C13BE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387" y="6096316"/>
            <a:ext cx="5301133" cy="9059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Sous-titre</a:t>
            </a:r>
            <a:br>
              <a:rPr lang="fr-FR" dirty="0"/>
            </a:br>
            <a:r>
              <a:rPr lang="fr-FR" dirty="0" err="1"/>
              <a:t>sous-titre</a:t>
            </a:r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E9C4B17-3C0A-0AA9-A29A-CCA8FB2C9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1841" y="6731438"/>
            <a:ext cx="3532961" cy="4700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66506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avec parten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1C27D597-0462-3501-7E5D-D9D2C9C132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7" y="367649"/>
            <a:ext cx="889671" cy="780539"/>
          </a:xfrm>
          <a:prstGeom prst="rect">
            <a:avLst/>
          </a:prstGeom>
        </p:spPr>
      </p:pic>
      <p:pic>
        <p:nvPicPr>
          <p:cNvPr id="8" name="Image 7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8C7CFAB8-CA48-0F6B-42F7-E4D71808A6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08" y="324469"/>
            <a:ext cx="1930549" cy="681371"/>
          </a:xfrm>
          <a:prstGeom prst="rect">
            <a:avLst/>
          </a:prstGeom>
        </p:spPr>
      </p:pic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CEA0C62F-281B-1211-066C-495D9D1D8E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42721"/>
            <a:ext cx="13439775" cy="611695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2F876BB-55E7-81A2-DED6-561C788C9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387" y="2487458"/>
            <a:ext cx="10311785" cy="905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diaporama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61854-B167-B250-A47D-349C13BE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387" y="6071980"/>
            <a:ext cx="5301133" cy="9059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Sous-titre</a:t>
            </a:r>
            <a:br>
              <a:rPr lang="fr-FR" dirty="0"/>
            </a:br>
            <a:r>
              <a:rPr lang="fr-FR" dirty="0" err="1"/>
              <a:t>sous-titre</a:t>
            </a:r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E9C4B17-3C0A-0AA9-A29A-CCA8FB2C9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1841" y="6498218"/>
            <a:ext cx="3532961" cy="4700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9" name="Espace réservé pour une image  6">
            <a:extLst>
              <a:ext uri="{FF2B5EF4-FFF2-40B4-BE49-F238E27FC236}">
                <a16:creationId xmlns:a16="http://schemas.microsoft.com/office/drawing/2014/main" id="{E4B5D120-941F-66EB-5F75-A80961DAD5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20339" y="388077"/>
            <a:ext cx="1372235" cy="63754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 dirty="0"/>
          </a:p>
        </p:txBody>
      </p:sp>
      <p:sp>
        <p:nvSpPr>
          <p:cNvPr id="10" name="Espace réservé pour une image  6">
            <a:extLst>
              <a:ext uri="{FF2B5EF4-FFF2-40B4-BE49-F238E27FC236}">
                <a16:creationId xmlns:a16="http://schemas.microsoft.com/office/drawing/2014/main" id="{2300A731-CC1E-C72E-3236-B17C15490A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557153" y="388077"/>
            <a:ext cx="1372235" cy="63754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88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hap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87" y="1941568"/>
            <a:ext cx="9640084" cy="6463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921FA4-CE9B-FB96-59E9-ED13724CB2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287" y="624280"/>
            <a:ext cx="2774771" cy="6463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  <a:lvl2pPr marL="503971" indent="0">
              <a:buNone/>
              <a:defRPr sz="2000"/>
            </a:lvl2pPr>
            <a:lvl3pPr marL="1007943" indent="0">
              <a:buNone/>
              <a:defRPr sz="2000"/>
            </a:lvl3pPr>
            <a:lvl4pPr marL="1511914" indent="0">
              <a:buNone/>
              <a:defRPr sz="2000"/>
            </a:lvl4pPr>
            <a:lvl5pPr marL="2015886" indent="0">
              <a:buNone/>
              <a:defRPr sz="2000"/>
            </a:lvl5pPr>
          </a:lstStyle>
          <a:p>
            <a:pPr lvl="0"/>
            <a:r>
              <a:rPr lang="fr-FR" dirty="0"/>
              <a:t>N° Chap.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E9C5665-E6A2-AFB0-D8EB-6028AAAD0B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04" y="3485514"/>
            <a:ext cx="9596438" cy="5355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  <a:lvl2pPr marL="503971" indent="0">
              <a:buNone/>
              <a:defRPr sz="3200" b="1">
                <a:solidFill>
                  <a:schemeClr val="bg1"/>
                </a:solidFill>
              </a:defRPr>
            </a:lvl2pPr>
            <a:lvl3pPr marL="1007943" indent="0">
              <a:buNone/>
              <a:defRPr sz="3200" b="1">
                <a:solidFill>
                  <a:schemeClr val="bg1"/>
                </a:solidFill>
              </a:defRPr>
            </a:lvl3pPr>
            <a:lvl4pPr marL="1511914" indent="0">
              <a:buNone/>
              <a:defRPr sz="3200" b="1">
                <a:solidFill>
                  <a:schemeClr val="bg1"/>
                </a:solidFill>
              </a:defRPr>
            </a:lvl4pPr>
            <a:lvl5pPr marL="2015886" indent="0"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bg1"/>
                </a:solidFill>
              </a:rPr>
              <a:pPr algn="r"/>
              <a:t>‹N°›</a:t>
            </a:fld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4533FA4-9D3A-4919-87DD-3A5D39BA52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187224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85859623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eul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6"/>
            <a:ext cx="12071964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0EF15F-5E56-5AF2-B7BD-EA254BEE73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924F964D-CDF7-54DC-DF4E-6E1347A5DA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082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eul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pic>
        <p:nvPicPr>
          <p:cNvPr id="13" name="Image 1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3C75A1BA-470F-11D3-5188-2F8410FF13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6"/>
            <a:ext cx="12071964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BF8915E5-7A05-C14E-C483-CF93506122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3E1999B3-13BA-CE0E-F071-EF7E80B591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370105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B3BEA72F-EBA0-759D-2844-219393BA4D0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6648222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1 image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9887" y="1713110"/>
            <a:ext cx="6031696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7388" y="1713110"/>
            <a:ext cx="5562600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73F0FF25-4830-4B92-E347-BB5467AB1DB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5E6F08FE-6BA1-CC2B-4386-45BC765667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0726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1 image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9887" y="1713110"/>
            <a:ext cx="6031696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7388" y="1713110"/>
            <a:ext cx="5562600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7F08ED9D-9024-BB26-8A80-830509FFDF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93448BE-0ECB-6320-98B0-5A9C4AC8C48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A35CAAED-CA10-AFBA-7661-432B63D98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0998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2 images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710516"/>
            <a:ext cx="458464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3482" y="1725053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22E717E4-35F8-D589-CB07-DC58652F49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24776" y="1710515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59C8821-12A6-9077-0FE6-0C7D5003C9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F5D610F1-993B-3BDC-0B80-6E40849F50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5357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2 images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710516"/>
            <a:ext cx="458464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3482" y="1725053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22E717E4-35F8-D589-CB07-DC58652F49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24776" y="1710515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2A445B58-D928-301C-2FD9-64A2FA4FBFF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04C0D8C7-8C0F-240A-EC17-E339D3D3DC8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7" name="Image 6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9CA1E6D-AD60-CBE5-AB3E-CD4D03C53E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0817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632646"/>
            <a:ext cx="4296213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50A837AF-283B-F28A-536A-4F64403CED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799138" y="1700213"/>
            <a:ext cx="6959600" cy="4506949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36869470-B611-748A-F8B8-D2A6BAB984F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6825559F-0B08-1E53-E086-7520F5052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6098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632646"/>
            <a:ext cx="4110683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50A837AF-283B-F28A-536A-4F64403CED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799138" y="1700213"/>
            <a:ext cx="6959600" cy="4506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DF962DC0-EBE1-C594-7A75-E058688629F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548F813-53EC-3BA9-9015-9AF2D40774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07E2ED74-B53E-06E3-D5DA-AA151AD967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8957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6"/>
            <a:ext cx="444479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D23714C-257E-0DB8-29DC-01D8C641EA8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680038" y="1631950"/>
            <a:ext cx="7072350" cy="4694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DB72CD25-BBA1-BF12-6F71-57FFF8C181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0A9AE95C-9F51-D565-F247-235F06F8ED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7749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3" y="641424"/>
            <a:ext cx="12071965" cy="64633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6"/>
            <a:ext cx="444479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D23714C-257E-0DB8-29DC-01D8C641EA8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680038" y="1631950"/>
            <a:ext cx="7072350" cy="4694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95C15037-7C6C-E67C-8920-02C2F2A9F0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6C4F8B11-96AD-A2CA-45B2-BF7897F0A09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217BBED-963F-0CE9-DF65-8A1F9BD18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94105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in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4EE1445-38BE-D854-88D5-1CE2786E6A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88" y="0"/>
            <a:ext cx="13439775" cy="6357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143" y="4056778"/>
            <a:ext cx="5176314" cy="2120338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txBody>
          <a:bodyPr wrap="square" lIns="180000" tIns="180000" rIns="180000" bIns="180000" anchor="ctr" anchorCtr="0">
            <a:spAutoFit/>
          </a:bodyPr>
          <a:lstStyle>
            <a:lvl1pPr marL="0" indent="0" algn="ctr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 algn="ctr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AA15E20F-B23B-FE05-C2C1-B6BB632F5D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3" name="Image 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1C38539-A306-899C-3C1A-D47039A29D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6490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in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4EE1445-38BE-D854-88D5-1CE2786E6A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88" y="0"/>
            <a:ext cx="13439775" cy="6357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1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0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5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143" y="4056778"/>
            <a:ext cx="5176314" cy="2120338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txBody>
          <a:bodyPr wrap="square" lIns="180000" tIns="180000" rIns="180000" bIns="180000" anchor="ctr" anchorCtr="0">
            <a:spAutoFit/>
          </a:bodyPr>
          <a:lstStyle>
            <a:lvl1pPr marL="0" indent="0" algn="ctr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0" indent="-342900" algn="ctr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16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8" cy="2598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1" indent="0">
              <a:buNone/>
              <a:defRPr/>
            </a:lvl2pPr>
            <a:lvl3pPr marL="1007943" indent="0">
              <a:buNone/>
              <a:defRPr/>
            </a:lvl3pPr>
            <a:lvl4pPr marL="1511914" indent="0">
              <a:buNone/>
              <a:defRPr/>
            </a:lvl4pPr>
            <a:lvl5pPr marL="2015886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2" name="Espace réservé pour une image  3">
            <a:extLst>
              <a:ext uri="{FF2B5EF4-FFF2-40B4-BE49-F238E27FC236}">
                <a16:creationId xmlns:a16="http://schemas.microsoft.com/office/drawing/2014/main" id="{A40BE316-D99E-BDC5-F0C3-1756BB2063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1" y="6844652"/>
            <a:ext cx="1835765" cy="4390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6769844C-77F7-F266-4507-4D91C0BEBB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29" y="7002977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1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43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14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86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B5028838-C20B-804F-3CA3-AA740F82A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4" y="6891791"/>
            <a:ext cx="895365" cy="3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5258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sans parten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1C27D597-0462-3501-7E5D-D9D2C9C132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7" y="367650"/>
            <a:ext cx="889671" cy="780539"/>
          </a:xfrm>
          <a:prstGeom prst="rect">
            <a:avLst/>
          </a:prstGeom>
        </p:spPr>
      </p:pic>
      <p:pic>
        <p:nvPicPr>
          <p:cNvPr id="8" name="Image 7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8C7CFAB8-CA48-0F6B-42F7-E4D71808A6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209" y="324470"/>
            <a:ext cx="1930549" cy="681371"/>
          </a:xfrm>
          <a:prstGeom prst="rect">
            <a:avLst/>
          </a:prstGeom>
        </p:spPr>
      </p:pic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CEA0C62F-281B-1211-066C-495D9D1D8E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65" y="1463360"/>
            <a:ext cx="13439775" cy="6096316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2F876BB-55E7-81A2-DED6-561C788C9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388" y="2487458"/>
            <a:ext cx="10311785" cy="905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diaporama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61854-B167-B250-A47D-349C13BE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388" y="6096315"/>
            <a:ext cx="5301133" cy="9059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Sous-titre</a:t>
            </a:r>
            <a:br>
              <a:rPr lang="fr-FR" dirty="0"/>
            </a:br>
            <a:r>
              <a:rPr lang="fr-FR" dirty="0" err="1"/>
              <a:t>sous-titre</a:t>
            </a:r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E9C4B17-3C0A-0AA9-A29A-CCA8FB2C9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1841" y="6731439"/>
            <a:ext cx="3532961" cy="4700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DE49BE-0E2E-ADFE-C264-B7909E6FBF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15" y="1463358"/>
            <a:ext cx="13438026" cy="609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8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avec parten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1C27D597-0462-3501-7E5D-D9D2C9C132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7" y="367650"/>
            <a:ext cx="889671" cy="780539"/>
          </a:xfrm>
          <a:prstGeom prst="rect">
            <a:avLst/>
          </a:prstGeom>
        </p:spPr>
      </p:pic>
      <p:pic>
        <p:nvPicPr>
          <p:cNvPr id="8" name="Image 7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8C7CFAB8-CA48-0F6B-42F7-E4D71808A6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09" y="324470"/>
            <a:ext cx="1930549" cy="681371"/>
          </a:xfrm>
          <a:prstGeom prst="rect">
            <a:avLst/>
          </a:prstGeom>
        </p:spPr>
      </p:pic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CEA0C62F-281B-1211-066C-495D9D1D8E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42721"/>
            <a:ext cx="13439775" cy="611695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2F876BB-55E7-81A2-DED6-561C788C9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388" y="2487458"/>
            <a:ext cx="10311785" cy="905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diaporama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61854-B167-B250-A47D-349C13BE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388" y="6071980"/>
            <a:ext cx="5301133" cy="9059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Sous-titre</a:t>
            </a:r>
            <a:br>
              <a:rPr lang="fr-FR" dirty="0"/>
            </a:br>
            <a:r>
              <a:rPr lang="fr-FR" dirty="0" err="1"/>
              <a:t>sous-titre</a:t>
            </a:r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E9C4B17-3C0A-0AA9-A29A-CCA8FB2C9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1841" y="6498219"/>
            <a:ext cx="3532961" cy="4700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9" name="Espace réservé pour une image  6">
            <a:extLst>
              <a:ext uri="{FF2B5EF4-FFF2-40B4-BE49-F238E27FC236}">
                <a16:creationId xmlns:a16="http://schemas.microsoft.com/office/drawing/2014/main" id="{E4B5D120-941F-66EB-5F75-A80961DAD5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20339" y="388077"/>
            <a:ext cx="1372235" cy="63754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 dirty="0"/>
          </a:p>
        </p:txBody>
      </p:sp>
      <p:sp>
        <p:nvSpPr>
          <p:cNvPr id="10" name="Espace réservé pour une image  6">
            <a:extLst>
              <a:ext uri="{FF2B5EF4-FFF2-40B4-BE49-F238E27FC236}">
                <a16:creationId xmlns:a16="http://schemas.microsoft.com/office/drawing/2014/main" id="{2300A731-CC1E-C72E-3236-B17C15490A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557154" y="388077"/>
            <a:ext cx="1372235" cy="63754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E99375-7010-9A41-2EF3-355A34DDB9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0" y="1462497"/>
            <a:ext cx="13438026" cy="609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hap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87" y="1941570"/>
            <a:ext cx="9640084" cy="655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E921FA4-CE9B-FB96-59E9-ED13724CB2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287" y="624281"/>
            <a:ext cx="2774771" cy="65584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  <a:lvl2pPr marL="503974" indent="0">
              <a:buNone/>
              <a:defRPr sz="2000"/>
            </a:lvl2pPr>
            <a:lvl3pPr marL="1007950" indent="0">
              <a:buNone/>
              <a:defRPr sz="2000"/>
            </a:lvl3pPr>
            <a:lvl4pPr marL="1511923" indent="0">
              <a:buNone/>
              <a:defRPr sz="2000"/>
            </a:lvl4pPr>
            <a:lvl5pPr marL="2015899" indent="0">
              <a:buNone/>
              <a:defRPr sz="2000"/>
            </a:lvl5pPr>
          </a:lstStyle>
          <a:p>
            <a:pPr lvl="0"/>
            <a:r>
              <a:rPr lang="fr-FR" dirty="0"/>
              <a:t>N° Chap.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E9C5665-E6A2-AFB0-D8EB-6028AAAD0B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04" y="3485515"/>
            <a:ext cx="9596438" cy="54494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  <a:lvl2pPr marL="503974" indent="0">
              <a:buNone/>
              <a:defRPr sz="3200" b="1">
                <a:solidFill>
                  <a:schemeClr val="bg1"/>
                </a:solidFill>
              </a:defRPr>
            </a:lvl2pPr>
            <a:lvl3pPr marL="1007950" indent="0">
              <a:buNone/>
              <a:defRPr sz="3200" b="1">
                <a:solidFill>
                  <a:schemeClr val="bg1"/>
                </a:solidFill>
              </a:defRPr>
            </a:lvl3pPr>
            <a:lvl4pPr marL="1511923" indent="0">
              <a:buNone/>
              <a:defRPr sz="3200" b="1">
                <a:solidFill>
                  <a:schemeClr val="bg1"/>
                </a:solidFill>
              </a:defRPr>
            </a:lvl4pPr>
            <a:lvl5pPr marL="2015899" indent="0"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bg1"/>
                </a:solidFill>
              </a:rPr>
              <a:pPr algn="r"/>
              <a:t>‹N°›</a:t>
            </a:fld>
            <a:endParaRPr lang="fr-FR" sz="1601" dirty="0">
              <a:solidFill>
                <a:schemeClr val="bg1"/>
              </a:solidFill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4533FA4-9D3A-4919-87DD-3A5D39BA52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187224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968813810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eul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12071964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0EF15F-5E56-5AF2-B7BD-EA254BEE73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924F964D-CDF7-54DC-DF4E-6E1347A5DA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3B8E277-22D1-DF4D-22C2-EA63B05FBC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9513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eul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pic>
        <p:nvPicPr>
          <p:cNvPr id="13" name="Image 1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3C75A1BA-470F-11D3-5188-2F8410FF13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12071964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BF8915E5-7A05-C14E-C483-CF93506122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3E1999B3-13BA-CE0E-F071-EF7E80B591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7" y="7023845"/>
            <a:ext cx="3370105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B3BEA72F-EBA0-759D-2844-219393BA4D0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20CF14-6CEB-B29A-2806-A8836DC9E6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99853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1 image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9886" y="1713110"/>
            <a:ext cx="6031697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7389" y="1713111"/>
            <a:ext cx="5562600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73F0FF25-4830-4B92-E347-BB5467AB1DB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5E6F08FE-6BA1-CC2B-4386-45BC765667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2A24FE-0678-E74A-81A7-2D7E6B6D68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6109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1 image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9886" y="1713110"/>
            <a:ext cx="6031697" cy="1812804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7389" y="1713111"/>
            <a:ext cx="5562600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7F08ED9D-9024-BB26-8A80-830509FFDF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93448BE-0ECB-6320-98B0-5A9C4AC8C48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A35CAAED-CA10-AFBA-7661-432B63D98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A634586-82D7-65AA-6413-C8D9B4DF3A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64047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2 images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710517"/>
            <a:ext cx="458464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3482" y="1725053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22E717E4-35F8-D589-CB07-DC58652F49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24776" y="1710515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59C8821-12A6-9077-0FE6-0C7D5003C9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F5D610F1-993B-3BDC-0B80-6E40849F50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113798-5FD0-0306-C893-DD71501238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75942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2 images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3" y="1710517"/>
            <a:ext cx="458464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FDC29645-0B40-B034-F898-D4A761A4E8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3482" y="1725053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22E717E4-35F8-D589-CB07-DC58652F49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24776" y="1710515"/>
            <a:ext cx="3228396" cy="4622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2A445B58-D928-301C-2FD9-64A2FA4FBFF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04C0D8C7-8C0F-240A-EC17-E339D3D3DC8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7" name="Image 6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9CA1E6D-AD60-CBE5-AB3E-CD4D03C53E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ED3697E-E657-9EC8-C06B-D053569CF8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69518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4296213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50A837AF-283B-F28A-536A-4F64403CED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799139" y="1700213"/>
            <a:ext cx="6959600" cy="4506949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36869470-B611-748A-F8B8-D2A6BAB984F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6825559F-0B08-1E53-E086-7520F5052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CAEAEDE-9B33-C887-28F5-129E8F64FB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31305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4110683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50A837AF-283B-F28A-536A-4F64403CED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799139" y="1700213"/>
            <a:ext cx="6959600" cy="4506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DF962DC0-EBE1-C594-7A75-E058688629F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548F813-53EC-3BA9-9015-9AF2D40774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07E2ED74-B53E-06E3-D5DA-AA151AD967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C5BF994-5DAE-C494-EE22-9C2C20DBE0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52239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444479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D23714C-257E-0DB8-29DC-01D8C641EA8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680038" y="1631949"/>
            <a:ext cx="7072350" cy="4694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DB72CD25-BBA1-BF12-6F71-57FFF8C181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0A9AE95C-9F51-D565-F247-235F06F8ED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217A21A-6179-5858-FF68-59CED7D774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69827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86079-7E97-BD4D-71DA-F1E3812C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04" y="641426"/>
            <a:ext cx="12071965" cy="65584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604" y="1632647"/>
            <a:ext cx="4444794" cy="181280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D23714C-257E-0DB8-29DC-01D8C641EA8D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680038" y="1631949"/>
            <a:ext cx="7072350" cy="4694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95C15037-7C6C-E67C-8920-02C2F2A9F0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6C4F8B11-96AD-A2CA-45B2-BF7897F0A09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217BBED-963F-0CE9-DF65-8A1F9BD18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91B2AB1-9C9F-5F0C-735A-CCA756275F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04164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in sans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4EE1445-38BE-D854-88D5-1CE2786E6A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87" y="0"/>
            <a:ext cx="13439775" cy="6357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143" y="4056777"/>
            <a:ext cx="5176314" cy="2120338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txBody>
          <a:bodyPr wrap="square" lIns="180000" tIns="180000" rIns="180000" bIns="180000" anchor="ctr" anchorCtr="0">
            <a:spAutoFit/>
          </a:bodyPr>
          <a:lstStyle>
            <a:lvl1pPr marL="0" indent="0" algn="ctr"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 algn="ctr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AA15E20F-B23B-FE05-C2C1-B6BB632F5D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3" name="Image 2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1C38539-A306-899C-3C1A-D47039A29D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4EDED9F-C6A0-4F1C-9EFF-EA856B36C3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1828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in avec logo parten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4EE1445-38BE-D854-88D5-1CE2786E6A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87" y="0"/>
            <a:ext cx="13439775" cy="6357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79BC8C-45DE-AA38-D9F9-BE9453D72891}"/>
              </a:ext>
            </a:extLst>
          </p:cNvPr>
          <p:cNvSpPr txBox="1"/>
          <p:nvPr userDrawn="1"/>
        </p:nvSpPr>
        <p:spPr>
          <a:xfrm>
            <a:off x="11887201" y="7006702"/>
            <a:ext cx="1021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24BBBC7-3AB1-4DAB-804A-1727E1B0357C}" type="slidenum">
              <a:rPr lang="fr-FR" sz="1200" smtClean="0">
                <a:solidFill>
                  <a:schemeClr val="accent1"/>
                </a:solidFill>
              </a:rPr>
              <a:pPr algn="r"/>
              <a:t>‹N°›</a:t>
            </a:fld>
            <a:endParaRPr lang="fr-FR" sz="1601" dirty="0">
              <a:solidFill>
                <a:schemeClr val="accent1"/>
              </a:solidFill>
            </a:endParaRPr>
          </a:p>
        </p:txBody>
      </p:sp>
      <p:pic>
        <p:nvPicPr>
          <p:cNvPr id="10" name="Image 9" descr="Une image contenant Graphique, Bleu électrique, logo&#10;&#10;Description générée automatiquement">
            <a:extLst>
              <a:ext uri="{FF2B5EF4-FFF2-40B4-BE49-F238E27FC236}">
                <a16:creationId xmlns:a16="http://schemas.microsoft.com/office/drawing/2014/main" id="{1C132213-76AB-1920-FC0F-392322893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75" y="6784776"/>
            <a:ext cx="1236480" cy="436405"/>
          </a:xfrm>
          <a:prstGeom prst="rect">
            <a:avLst/>
          </a:prstGeom>
        </p:spPr>
      </p:pic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1EE378F-8BF8-3CC7-3557-AC00AB3CC9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0143" y="4056777"/>
            <a:ext cx="5176314" cy="2120338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txBody>
          <a:bodyPr wrap="square" lIns="180000" tIns="180000" rIns="180000" bIns="180000" anchor="ctr" anchorCtr="0">
            <a:spAutoFit/>
          </a:bodyPr>
          <a:lstStyle>
            <a:lvl1pPr marL="0" indent="0" algn="ctr">
              <a:buFontTx/>
              <a:buNone/>
              <a:defRPr sz="2800"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342902" indent="-342902" algn="ctr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 sz="1601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Texte courant niveau 1</a:t>
            </a:r>
          </a:p>
          <a:p>
            <a:pPr lvl="1"/>
            <a:r>
              <a:rPr lang="fr-FR" dirty="0"/>
              <a:t>Texte courant niveau 2</a:t>
            </a:r>
          </a:p>
          <a:p>
            <a:pPr lvl="2"/>
            <a:r>
              <a:rPr lang="fr-FR" dirty="0"/>
              <a:t>Texte courant puce</a:t>
            </a:r>
          </a:p>
          <a:p>
            <a:pPr lvl="3"/>
            <a:r>
              <a:rPr lang="fr-FR" dirty="0"/>
              <a:t>Texte courant niveau 3</a:t>
            </a:r>
          </a:p>
          <a:p>
            <a:pPr lvl="4"/>
            <a:r>
              <a:rPr lang="fr-FR" dirty="0"/>
              <a:t>Texte courant niveau 4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B863719A-E2AB-682B-F172-C98769C1F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7096" y="7023845"/>
            <a:ext cx="3262529" cy="26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200" b="1">
                <a:solidFill>
                  <a:schemeClr val="accent1"/>
                </a:solidFill>
              </a:defRPr>
            </a:lvl1pPr>
            <a:lvl2pPr marL="503974" indent="0">
              <a:buNone/>
              <a:defRPr/>
            </a:lvl2pPr>
            <a:lvl3pPr marL="1007950" indent="0">
              <a:buNone/>
              <a:defRPr/>
            </a:lvl3pPr>
            <a:lvl4pPr marL="1511923" indent="0">
              <a:buNone/>
              <a:defRPr/>
            </a:lvl4pPr>
            <a:lvl5pPr marL="2015899" indent="0">
              <a:buNone/>
              <a:defRPr/>
            </a:lvl5pPr>
          </a:lstStyle>
          <a:p>
            <a:pPr lvl="0"/>
            <a:r>
              <a:rPr lang="fr-FR" dirty="0"/>
              <a:t>Titre présentation</a:t>
            </a:r>
          </a:p>
        </p:txBody>
      </p:sp>
      <p:sp>
        <p:nvSpPr>
          <p:cNvPr id="2" name="Espace réservé pour une image  3">
            <a:extLst>
              <a:ext uri="{FF2B5EF4-FFF2-40B4-BE49-F238E27FC236}">
                <a16:creationId xmlns:a16="http://schemas.microsoft.com/office/drawing/2014/main" id="{A40BE316-D99E-BDC5-F0C3-1756BB2063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29862" y="6844654"/>
            <a:ext cx="1835765" cy="4390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Logo partenaire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6769844C-77F7-F266-4507-4D91C0BEBB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637530" y="7002978"/>
            <a:ext cx="2164715" cy="24441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000">
                <a:solidFill>
                  <a:schemeClr val="accent1"/>
                </a:solidFill>
              </a:defRPr>
            </a:lvl1pPr>
            <a:lvl2pPr marL="503974" indent="0">
              <a:buFontTx/>
              <a:buNone/>
              <a:defRPr sz="1000">
                <a:solidFill>
                  <a:schemeClr val="accent1"/>
                </a:solidFill>
              </a:defRPr>
            </a:lvl2pPr>
            <a:lvl3pPr marL="1007950" indent="0">
              <a:buFontTx/>
              <a:buNone/>
              <a:defRPr sz="1000">
                <a:solidFill>
                  <a:schemeClr val="accent1"/>
                </a:solidFill>
              </a:defRPr>
            </a:lvl3pPr>
            <a:lvl4pPr marL="1511923" indent="0">
              <a:buFontTx/>
              <a:buNone/>
              <a:defRPr sz="1000">
                <a:solidFill>
                  <a:schemeClr val="accent1"/>
                </a:solidFill>
              </a:defRPr>
            </a:lvl4pPr>
            <a:lvl5pPr marL="2015899" indent="0">
              <a:buFontTx/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5" name="Image 4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B5028838-C20B-804F-3CA3-AA740F82A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" y="6891792"/>
            <a:ext cx="895365" cy="3527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F0244F5-1E80-B65D-79BF-4D1FCF9457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" y="-3991"/>
            <a:ext cx="13438026" cy="65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3191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701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701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8A90-F5C5-48A5-B396-87538DE85D05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701"/>
            <a:ext cx="3023949" cy="40248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27 septembre 2023</a:t>
            </a:r>
          </a:p>
        </p:txBody>
      </p:sp>
    </p:spTree>
    <p:extLst>
      <p:ext uri="{BB962C8B-B14F-4D97-AF65-F5344CB8AC3E}">
        <p14:creationId xmlns:p14="http://schemas.microsoft.com/office/powerpoint/2010/main" val="165369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42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702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702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8A90-F5C5-48A5-B396-87538DE85D05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6" y="7006702"/>
            <a:ext cx="3023949" cy="40248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27 septembre 2023</a:t>
            </a:r>
          </a:p>
        </p:txBody>
      </p:sp>
    </p:spTree>
    <p:extLst>
      <p:ext uri="{BB962C8B-B14F-4D97-AF65-F5344CB8AC3E}">
        <p14:creationId xmlns:p14="http://schemas.microsoft.com/office/powerpoint/2010/main" val="64252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l" defTabSz="1007950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8" indent="-251988" algn="l" defTabSz="1007950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62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38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11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86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62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36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812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86" indent="-251988" algn="l" defTabSz="100795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5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50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25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99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74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49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24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99" algn="l" defTabSz="1007950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>
          <p15:clr>
            <a:srgbClr val="F26B43"/>
          </p15:clr>
        </p15:guide>
        <p15:guide id="2" pos="42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 descr="Une image contenant Bleu électrique, bleu vert, eau, Azure&#10;&#10;Description générée automatiquement">
            <a:extLst>
              <a:ext uri="{FF2B5EF4-FFF2-40B4-BE49-F238E27FC236}">
                <a16:creationId xmlns:a16="http://schemas.microsoft.com/office/drawing/2014/main" id="{1BB3B806-1409-574B-5EC7-C15ECBF780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7894" y="1463359"/>
            <a:ext cx="13439775" cy="6096316"/>
          </a:xfr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39145E-63CE-251E-7361-8CDF58FFAC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387" y="2487457"/>
            <a:ext cx="12733340" cy="2540266"/>
          </a:xfrm>
        </p:spPr>
        <p:txBody>
          <a:bodyPr/>
          <a:lstStyle/>
          <a:p>
            <a:r>
              <a:rPr lang="fr-FR" b="1" dirty="0"/>
              <a:t>BILAN Opus Activité</a:t>
            </a:r>
            <a:endParaRPr lang="fr-FR" dirty="0"/>
          </a:p>
          <a:p>
            <a:r>
              <a:rPr lang="fr-FR" dirty="0">
                <a:solidFill>
                  <a:schemeClr val="accent3"/>
                </a:solidFill>
              </a:rPr>
              <a:t>SATISFACTION &amp; SUGGESTIONS</a:t>
            </a:r>
          </a:p>
          <a:p>
            <a:r>
              <a:rPr lang="fr-FR" dirty="0">
                <a:solidFill>
                  <a:schemeClr val="accent3"/>
                </a:solidFill>
              </a:rPr>
              <a:t>des utilisateurs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6D1368-589D-6561-42D9-CF4CF149EC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01366" y="6835582"/>
            <a:ext cx="3532961" cy="470044"/>
          </a:xfrm>
        </p:spPr>
        <p:txBody>
          <a:bodyPr/>
          <a:lstStyle/>
          <a:p>
            <a:pPr algn="r"/>
            <a:r>
              <a:rPr lang="fr-FR" dirty="0"/>
              <a:t>11/04/2025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173CB81-16CD-4F50-B869-33921124D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805" y="5460115"/>
            <a:ext cx="8347862" cy="1845511"/>
          </a:xfrm>
        </p:spPr>
        <p:txBody>
          <a:bodyPr/>
          <a:lstStyle/>
          <a:p>
            <a:r>
              <a:rPr lang="fr-FR" dirty="0"/>
              <a:t>Distribution dès 04/03 – Retours jusqu’au 09/04</a:t>
            </a:r>
          </a:p>
          <a:p>
            <a:r>
              <a:rPr lang="fr-FR" dirty="0"/>
              <a:t>51 invitations → 25 retours ≈ 50% de participation </a:t>
            </a:r>
          </a:p>
          <a:p>
            <a:r>
              <a:rPr lang="fr-FR" dirty="0"/>
              <a:t>2 anonymats</a:t>
            </a:r>
          </a:p>
        </p:txBody>
      </p:sp>
    </p:spTree>
    <p:extLst>
      <p:ext uri="{BB962C8B-B14F-4D97-AF65-F5344CB8AC3E}">
        <p14:creationId xmlns:p14="http://schemas.microsoft.com/office/powerpoint/2010/main" val="165126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 descr="Une image contenant eau, bleu vert, Bleu électrique, Azure&#10;&#10;Description générée automatiquement">
            <a:extLst>
              <a:ext uri="{FF2B5EF4-FFF2-40B4-BE49-F238E27FC236}">
                <a16:creationId xmlns:a16="http://schemas.microsoft.com/office/drawing/2014/main" id="{95E5B886-2E81-5532-F361-D53F226B7E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44" b="27244"/>
          <a:stretch>
            <a:fillRect/>
          </a:stretch>
        </p:blipFill>
        <p:spPr>
          <a:xfrm>
            <a:off x="176" y="1424138"/>
            <a:ext cx="13439422" cy="6116793"/>
          </a:xfr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70B768-E209-4BB7-97CC-EEC90052A7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2475" y="1622992"/>
            <a:ext cx="12767300" cy="1861570"/>
          </a:xfrm>
        </p:spPr>
        <p:txBody>
          <a:bodyPr/>
          <a:lstStyle/>
          <a:p>
            <a:r>
              <a:rPr lang="fr-FR" dirty="0"/>
              <a:t>SYNTHÈSE du QUESTIONNAIRE</a:t>
            </a:r>
            <a:br>
              <a:rPr lang="fr-FR" dirty="0"/>
            </a:br>
            <a:r>
              <a:rPr lang="fr-FR" dirty="0"/>
              <a:t>« Satisfaction Opus Activité »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C12C5B-E899-3496-09FB-DDA1711632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3747" y="3645696"/>
            <a:ext cx="5593778" cy="4057650"/>
          </a:xfrm>
        </p:spPr>
        <p:txBody>
          <a:bodyPr/>
          <a:lstStyle/>
          <a:p>
            <a:r>
              <a:rPr lang="fr-FR" sz="2400" dirty="0"/>
              <a:t>1/ </a:t>
            </a:r>
            <a:r>
              <a:rPr lang="fr-FR" sz="2400" dirty="0">
                <a:solidFill>
                  <a:schemeClr val="accent3"/>
                </a:solidFill>
              </a:rPr>
              <a:t>Ressenti général 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>
                <a:solidFill>
                  <a:schemeClr val="accent3"/>
                </a:solidFill>
              </a:rPr>
              <a:t>Avis sur une échelle de Likert paire</a:t>
            </a:r>
          </a:p>
          <a:p>
            <a:pPr marL="789721" lvl="1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4 items Application</a:t>
            </a:r>
          </a:p>
          <a:p>
            <a:pPr marL="789721" lvl="1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3 items Support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BA7319-C137-4147-81DA-89D91BEFDD5C}"/>
              </a:ext>
            </a:extLst>
          </p:cNvPr>
          <p:cNvSpPr txBox="1"/>
          <p:nvPr/>
        </p:nvSpPr>
        <p:spPr>
          <a:xfrm>
            <a:off x="7062787" y="3634583"/>
            <a:ext cx="5672226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3/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ea typeface="+mn-ea"/>
                <a:cs typeface="+mn-cs"/>
              </a:rPr>
              <a:t>Questions ouvertes </a:t>
            </a:r>
          </a:p>
          <a:p>
            <a:pPr marL="742950" lvl="1" indent="-285750" defTabSz="1007943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Comparaison avec Allegro Activité</a:t>
            </a:r>
          </a:p>
          <a:p>
            <a:pPr marL="742950" lvl="1" indent="-285750" defTabSz="1007943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Meilleurs aspects retenus </a:t>
            </a:r>
          </a:p>
          <a:p>
            <a:pPr marL="742950" lvl="1" indent="-285750" defTabSz="1007943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Souhaits d’amélioration</a:t>
            </a:r>
          </a:p>
          <a:p>
            <a:pPr marL="742950" lvl="1" indent="-285750" defTabSz="1007943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Commentaire libre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9F347E-7480-43EE-9C71-AB07428B0E86}"/>
              </a:ext>
            </a:extLst>
          </p:cNvPr>
          <p:cNvSpPr txBox="1"/>
          <p:nvPr/>
        </p:nvSpPr>
        <p:spPr>
          <a:xfrm>
            <a:off x="1874680" y="6249837"/>
            <a:ext cx="2592545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 = Pas satisfait</a:t>
            </a:r>
          </a:p>
          <a:p>
            <a:r>
              <a:rPr lang="fr-FR" dirty="0">
                <a:solidFill>
                  <a:schemeClr val="bg1"/>
                </a:solidFill>
              </a:rPr>
              <a:t>2 = Peu satisfait </a:t>
            </a:r>
          </a:p>
          <a:p>
            <a:r>
              <a:rPr lang="fr-FR" dirty="0">
                <a:solidFill>
                  <a:schemeClr val="bg1"/>
                </a:solidFill>
              </a:rPr>
              <a:t>3 = Satisfait</a:t>
            </a:r>
          </a:p>
          <a:p>
            <a:r>
              <a:rPr lang="fr-FR" dirty="0">
                <a:solidFill>
                  <a:schemeClr val="bg1"/>
                </a:solidFill>
              </a:rPr>
              <a:t>4 = Totalement satisfait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7ABD17-F91F-4A07-9315-FC973C7F8565}"/>
              </a:ext>
            </a:extLst>
          </p:cNvPr>
          <p:cNvSpPr txBox="1"/>
          <p:nvPr/>
        </p:nvSpPr>
        <p:spPr>
          <a:xfrm>
            <a:off x="1347276" y="4143980"/>
            <a:ext cx="5301174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Très insatisfait / Insatisfait / Satisfait / Très satisfait</a:t>
            </a:r>
          </a:p>
        </p:txBody>
      </p:sp>
    </p:spTree>
    <p:extLst>
      <p:ext uri="{BB962C8B-B14F-4D97-AF65-F5344CB8AC3E}">
        <p14:creationId xmlns:p14="http://schemas.microsoft.com/office/powerpoint/2010/main" val="50917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0AA43-2FC1-463A-B9F0-207DDF8178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F419A5FA-2BA6-4D6B-8931-CEBD8E2642D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D2FD74A-52C2-4E4A-8064-2A695CDB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763" y="641507"/>
            <a:ext cx="9171612" cy="646331"/>
          </a:xfrm>
        </p:spPr>
        <p:txBody>
          <a:bodyPr/>
          <a:lstStyle/>
          <a:p>
            <a:r>
              <a:rPr lang="fr-FR" dirty="0"/>
              <a:t>Satisfaction générale d'Opus Activité</a:t>
            </a:r>
          </a:p>
        </p:txBody>
      </p: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774C2600-5394-4E3D-96B2-C2A67384B4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841999"/>
              </p:ext>
            </p:extLst>
          </p:nvPr>
        </p:nvGraphicFramePr>
        <p:xfrm>
          <a:off x="1284356" y="1870073"/>
          <a:ext cx="4465954" cy="3732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3883903E-E93A-4D6A-A08A-2F604E03DE2E}"/>
              </a:ext>
            </a:extLst>
          </p:cNvPr>
          <p:cNvSpPr txBox="1"/>
          <p:nvPr/>
        </p:nvSpPr>
        <p:spPr>
          <a:xfrm>
            <a:off x="7421247" y="1908173"/>
            <a:ext cx="5704203" cy="39703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C'est une bonne évolution. 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Nous sommes allés vers du mieux. 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Merci pour avoir fait évoluer Allegro en Opus qui est bien plus intuitif.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Quand c'est bien il faut le dire ! 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Plus fluide, plus rapide. Beaucoup mieux !! Bravo!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Belles évolutions, good job !! </a:t>
            </a:r>
          </a:p>
          <a:p>
            <a:pPr algn="ctr"/>
            <a:endParaRPr lang="fr-FR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ea typeface="Calibri" panose="020F0502020204030204" pitchFamily="34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Clair et rapide, j'adore Opus ! 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FB6A4334-85E4-49EA-BD14-8E658F118F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42705" y="5794483"/>
            <a:ext cx="2967470" cy="301518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fr-FR" sz="1600" dirty="0">
                <a:solidFill>
                  <a:schemeClr val="accent2"/>
                </a:solidFill>
              </a:rPr>
              <a:t>  N = 25 → </a:t>
            </a:r>
            <a:r>
              <a:rPr lang="fr-FR" sz="1600" b="1" dirty="0"/>
              <a:t>96% sont satisfaits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300092F-C9D5-44CA-9DD1-7CFA55FD0D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13" y="5612329"/>
            <a:ext cx="424622" cy="48895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AEA520F-55B3-40C8-9707-0005475E0A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512" y="1927223"/>
            <a:ext cx="572326" cy="46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3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0AA43-2FC1-463A-B9F0-207DDF8178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F419A5FA-2BA6-4D6B-8931-CEBD8E2642D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2EDA515-9A62-4927-9F25-A62D2E9A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06" y="640902"/>
            <a:ext cx="11170596" cy="684354"/>
          </a:xfrm>
        </p:spPr>
        <p:txBody>
          <a:bodyPr/>
          <a:lstStyle/>
          <a:p>
            <a:r>
              <a:rPr lang="fr-FR" dirty="0"/>
              <a:t>Satisfaction générale de l'appli et du support</a:t>
            </a:r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4C821921-8854-4FEA-867F-F25C6E218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763138"/>
              </p:ext>
            </p:extLst>
          </p:nvPr>
        </p:nvGraphicFramePr>
        <p:xfrm>
          <a:off x="1555220" y="2008964"/>
          <a:ext cx="9884305" cy="4092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1576F852-F62B-4809-BC76-C774D325C81A}"/>
              </a:ext>
            </a:extLst>
          </p:cNvPr>
          <p:cNvSpPr txBox="1"/>
          <p:nvPr/>
        </p:nvSpPr>
        <p:spPr>
          <a:xfrm>
            <a:off x="5845520" y="6088568"/>
            <a:ext cx="630838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tx2">
                    <a:lumMod val="50000"/>
                  </a:schemeClr>
                </a:solidFill>
              </a:rPr>
              <a:t>Pas satisfait	   Peu satisfait 		  Satisfait	       Totalement satisfait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1D623CD-99F7-411B-B1EA-BDA8BF9E9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176" y="1589833"/>
            <a:ext cx="563655" cy="38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6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0AA43-2FC1-463A-B9F0-207DDF8178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F419A5FA-2BA6-4D6B-8931-CEBD8E2642D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2E4FE3-6DBF-4B2D-87EA-0D9ED83EB301}"/>
              </a:ext>
            </a:extLst>
          </p:cNvPr>
          <p:cNvSpPr txBox="1"/>
          <p:nvPr/>
        </p:nvSpPr>
        <p:spPr>
          <a:xfrm>
            <a:off x="694828" y="4661555"/>
            <a:ext cx="8343899" cy="147732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Merci pour votre réactivité au cours de cette campagne !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Je remercie l'équipe Ifremer et Harmonie pour leur soutient !!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Grande réactivité d'Harmonie.</a:t>
            </a:r>
          </a:p>
        </p:txBody>
      </p: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8A991ACD-C893-430C-B3BD-50B2EE69C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1259521"/>
              </p:ext>
            </p:extLst>
          </p:nvPr>
        </p:nvGraphicFramePr>
        <p:xfrm>
          <a:off x="9267825" y="3607359"/>
          <a:ext cx="4276725" cy="3310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itre 1">
            <a:extLst>
              <a:ext uri="{FF2B5EF4-FFF2-40B4-BE49-F238E27FC236}">
                <a16:creationId xmlns:a16="http://schemas.microsoft.com/office/drawing/2014/main" id="{77F4F081-6A63-43CB-A3F8-EF88DC58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641350"/>
            <a:ext cx="12071350" cy="655638"/>
          </a:xfrm>
        </p:spPr>
        <p:txBody>
          <a:bodyPr/>
          <a:lstStyle/>
          <a:p>
            <a:r>
              <a:rPr lang="fr-FR" dirty="0"/>
              <a:t>Satisfaction générale de l'appli et du support</a:t>
            </a:r>
          </a:p>
        </p:txBody>
      </p:sp>
      <p:graphicFrame>
        <p:nvGraphicFramePr>
          <p:cNvPr id="16" name="Graphique 15">
            <a:extLst>
              <a:ext uri="{FF2B5EF4-FFF2-40B4-BE49-F238E27FC236}">
                <a16:creationId xmlns:a16="http://schemas.microsoft.com/office/drawing/2014/main" id="{26F829E4-C7C4-4078-BFCB-EA0D56A4C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0572509"/>
              </p:ext>
            </p:extLst>
          </p:nvPr>
        </p:nvGraphicFramePr>
        <p:xfrm>
          <a:off x="9392148" y="1111491"/>
          <a:ext cx="4028080" cy="2973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2F86EFB3-AF9E-42F0-A672-59746451DC49}"/>
              </a:ext>
            </a:extLst>
          </p:cNvPr>
          <p:cNvSpPr txBox="1"/>
          <p:nvPr/>
        </p:nvSpPr>
        <p:spPr>
          <a:xfrm>
            <a:off x="694828" y="1776313"/>
            <a:ext cx="8343900" cy="23083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J'apprécie la fluidité de l'outil Opus qui simplifie largement la saisie des calendriers et la navigation entre les navires.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Les filtres sont très faciles, rapides et modifiables rapidement.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Logique dans les différents volets pour la saisie. 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Ce nouvel outil est nettement plus intuitif et facile à prendre en main.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158EF5B-4292-4A42-BA45-5B3381CF70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1" y="1785838"/>
            <a:ext cx="458713" cy="38959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BCBA08C-1C29-4892-A62B-E8F12038286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62" y="4661555"/>
            <a:ext cx="451893" cy="49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re 1">
            <a:extLst>
              <a:ext uri="{FF2B5EF4-FFF2-40B4-BE49-F238E27FC236}">
                <a16:creationId xmlns:a16="http://schemas.microsoft.com/office/drawing/2014/main" id="{42A7B0CF-AFB3-497D-B077-1B9D8B63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06" y="383726"/>
            <a:ext cx="9389419" cy="646331"/>
          </a:xfrm>
        </p:spPr>
        <p:txBody>
          <a:bodyPr/>
          <a:lstStyle/>
          <a:p>
            <a:r>
              <a:rPr lang="fr-FR" sz="4000" dirty="0"/>
              <a:t>4 questions ouvertes</a:t>
            </a:r>
            <a:endParaRPr lang="fr-FR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0EDC27B6-77F3-44B6-B654-787B2E7F1D9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174286"/>
            <a:ext cx="477874" cy="464220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ADEA9079-95AA-4055-9576-0DA18EA6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493" y="1174286"/>
            <a:ext cx="572326" cy="464220"/>
          </a:xfrm>
          <a:prstGeom prst="rect">
            <a:avLst/>
          </a:prstGeom>
        </p:spPr>
      </p:pic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4FA5B5A-69C5-45F5-97D3-1C9A016DE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348074"/>
              </p:ext>
            </p:extLst>
          </p:nvPr>
        </p:nvGraphicFramePr>
        <p:xfrm>
          <a:off x="361950" y="1676606"/>
          <a:ext cx="12896850" cy="486208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964211">
                  <a:extLst>
                    <a:ext uri="{9D8B030D-6E8A-4147-A177-3AD203B41FA5}">
                      <a16:colId xmlns:a16="http://schemas.microsoft.com/office/drawing/2014/main" val="1164561082"/>
                    </a:ext>
                  </a:extLst>
                </a:gridCol>
                <a:gridCol w="4932639">
                  <a:extLst>
                    <a:ext uri="{9D8B030D-6E8A-4147-A177-3AD203B41FA5}">
                      <a16:colId xmlns:a16="http://schemas.microsoft.com/office/drawing/2014/main" val="3984639408"/>
                    </a:ext>
                  </a:extLst>
                </a:gridCol>
              </a:tblGrid>
              <a:tr h="495442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Réponses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876603"/>
                  </a:ext>
                </a:extLst>
              </a:tr>
              <a:tr h="976508">
                <a:tc>
                  <a:txBody>
                    <a:bodyPr/>
                    <a:lstStyle/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Si vous aviez utilisé l'outil </a:t>
                      </a:r>
                      <a:r>
                        <a:rPr lang="fr-FR" sz="1800" b="1" i="1" dirty="0">
                          <a:solidFill>
                            <a:schemeClr val="accent1"/>
                          </a:solidFill>
                        </a:rPr>
                        <a:t>Allegro Activité </a:t>
                      </a: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avant, </a:t>
                      </a:r>
                    </a:p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comment trouvez vous </a:t>
                      </a:r>
                      <a:r>
                        <a:rPr lang="fr-FR" sz="1800" b="1" i="1" dirty="0">
                          <a:solidFill>
                            <a:schemeClr val="accent1"/>
                          </a:solidFill>
                        </a:rPr>
                        <a:t>l'évolution entre les deux outils</a:t>
                      </a: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? </a:t>
                      </a:r>
                    </a:p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(Facilité de saisie et rapidité de saisie notamment). Pourquoi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dirty="0">
                          <a:solidFill>
                            <a:schemeClr val="accent2"/>
                          </a:solidFill>
                        </a:rPr>
                        <a:t>Durée d'ouverture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dirty="0">
                          <a:solidFill>
                            <a:schemeClr val="accent2"/>
                          </a:solidFill>
                        </a:rPr>
                        <a:t>Synchronisation </a:t>
                      </a:r>
                      <a:r>
                        <a:rPr lang="fr-FR" sz="1800" kern="1200" dirty="0">
                          <a:solidFill>
                            <a:srgbClr val="FF0000"/>
                          </a:solidFill>
                        </a:rPr>
                        <a:t>(ancien terme en mémoire)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dirty="0">
                          <a:solidFill>
                            <a:schemeClr val="accent2"/>
                          </a:solidFill>
                        </a:rPr>
                        <a:t>Chargement des données</a:t>
                      </a:r>
                      <a:endParaRPr lang="fr-FR" sz="1800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761388"/>
                  </a:ext>
                </a:extLst>
              </a:tr>
              <a:tr h="68355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Quels aspects de l'outil Opus Activité vous ont </a:t>
                      </a:r>
                      <a:r>
                        <a:rPr lang="fr-FR" sz="1800" b="1" i="1" dirty="0">
                          <a:solidFill>
                            <a:schemeClr val="accent1"/>
                          </a:solidFill>
                        </a:rPr>
                        <a:t>le plus plu </a:t>
                      </a: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? Pourquoi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dirty="0">
                          <a:solidFill>
                            <a:schemeClr val="accent2"/>
                          </a:solidFill>
                        </a:rPr>
                        <a:t>Interface clair et logique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kern="1200" dirty="0">
                          <a:solidFill>
                            <a:schemeClr val="accent2"/>
                          </a:solidFill>
                        </a:rPr>
                        <a:t>Fonctionnalités EXCEL</a:t>
                      </a:r>
                      <a:r>
                        <a:rPr lang="fr-FR" sz="1800" kern="1200" dirty="0">
                          <a:solidFill>
                            <a:srgbClr val="FF0000"/>
                          </a:solidFill>
                        </a:rPr>
                        <a:t> (à poursuivre)</a:t>
                      </a:r>
                      <a:endParaRPr lang="fr-FR" sz="1800" i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001755"/>
                  </a:ext>
                </a:extLst>
              </a:tr>
              <a:tr h="2148318">
                <a:tc>
                  <a:txBody>
                    <a:bodyPr/>
                    <a:lstStyle/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Quelles </a:t>
                      </a:r>
                      <a:r>
                        <a:rPr lang="fr-FR" sz="1800" b="1" i="1" dirty="0">
                          <a:solidFill>
                            <a:schemeClr val="accent1"/>
                          </a:solidFill>
                        </a:rPr>
                        <a:t>nouvelles fonctionnalités </a:t>
                      </a: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souhaiteriez-vous voir apparaître et </a:t>
                      </a:r>
                    </a:p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qui vous semblent indispensables à votre travail ?</a:t>
                      </a:r>
                    </a:p>
                    <a:p>
                      <a:endParaRPr lang="fr-FR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1" kern="1200" dirty="0">
                          <a:solidFill>
                            <a:schemeClr val="accent2"/>
                          </a:solidFill>
                        </a:rPr>
                        <a:t>Mode hors-ligne</a:t>
                      </a:r>
                      <a:r>
                        <a:rPr lang="fr-FR" sz="1800" b="0" kern="12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fr-FR" sz="1800" b="0" kern="1200" dirty="0">
                          <a:solidFill>
                            <a:srgbClr val="FF0000"/>
                          </a:solidFill>
                        </a:rPr>
                        <a:t>(pas mobile)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1" kern="1200" dirty="0">
                          <a:solidFill>
                            <a:schemeClr val="accent2"/>
                          </a:solidFill>
                        </a:rPr>
                        <a:t>Etat CA non saisi/vierge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1" kern="1200" dirty="0">
                          <a:solidFill>
                            <a:schemeClr val="accent2"/>
                          </a:solidFill>
                        </a:rPr>
                        <a:t>Rapport d’avancement format Excel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1" kern="1200" dirty="0">
                          <a:solidFill>
                            <a:schemeClr val="accent2"/>
                          </a:solidFill>
                        </a:rPr>
                        <a:t>Ergonomie </a:t>
                      </a:r>
                      <a:r>
                        <a:rPr lang="fr-FR" sz="1800" b="0" kern="1200" dirty="0">
                          <a:solidFill>
                            <a:schemeClr val="accent2"/>
                          </a:solidFill>
                        </a:rPr>
                        <a:t>(type Excel)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0" kern="1200" dirty="0">
                          <a:solidFill>
                            <a:schemeClr val="accent2"/>
                          </a:solidFill>
                        </a:rPr>
                        <a:t>Qualif. enquête N-1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0" kern="1200" dirty="0">
                          <a:solidFill>
                            <a:schemeClr val="accent2"/>
                          </a:solidFill>
                        </a:rPr>
                        <a:t>Ajout de zones de pêche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0" kern="1200" dirty="0">
                          <a:solidFill>
                            <a:schemeClr val="accent2"/>
                          </a:solidFill>
                        </a:rPr>
                        <a:t>Alertes à la saisie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800" b="0" i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fr-FR" sz="1800" b="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295301"/>
                  </a:ext>
                </a:extLst>
              </a:tr>
              <a:tr h="420577">
                <a:tc>
                  <a:txBody>
                    <a:bodyPr/>
                    <a:lstStyle/>
                    <a:p>
                      <a:pPr marL="0" marR="0" lvl="0" indent="0" algn="l" defTabSz="1007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i="1" dirty="0">
                          <a:solidFill>
                            <a:schemeClr val="accent1"/>
                          </a:solidFill>
                        </a:rPr>
                        <a:t>Commentaires libres.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14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92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0AA43-2FC1-463A-B9F0-207DDF8178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42A7B0CF-AFB3-497D-B077-1B9D8B63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06" y="640901"/>
            <a:ext cx="11691721" cy="646331"/>
          </a:xfrm>
        </p:spPr>
        <p:txBody>
          <a:bodyPr/>
          <a:lstStyle/>
          <a:p>
            <a:r>
              <a:rPr lang="fr-FR" sz="4000" dirty="0"/>
              <a:t>Fonctionnalités supplémentaires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CE0CF5-B886-4B27-92E8-BD3198C5EED9}"/>
              </a:ext>
            </a:extLst>
          </p:cNvPr>
          <p:cNvSpPr txBox="1"/>
          <p:nvPr/>
        </p:nvSpPr>
        <p:spPr>
          <a:xfrm>
            <a:off x="601145" y="1791434"/>
            <a:ext cx="7390532" cy="433965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sz="2000" b="1" dirty="0">
                <a:solidFill>
                  <a:schemeClr val="accent1"/>
                </a:solidFill>
              </a:rPr>
              <a:t>Tableau de bord</a:t>
            </a:r>
          </a:p>
          <a:p>
            <a:pPr algn="l">
              <a:defRPr/>
            </a:pPr>
            <a:endParaRPr lang="fr-FR" sz="2000" b="1" dirty="0">
              <a:solidFill>
                <a:schemeClr val="accent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fr-FR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Etat du calendrier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b="1" dirty="0">
                <a:solidFill>
                  <a:schemeClr val="accent2"/>
                </a:solidFill>
              </a:rPr>
              <a:t>Différencier CA « vierge » et « en cours de saisie »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Coche état « terminé » en vert </a:t>
            </a:r>
            <a:r>
              <a:rPr lang="fr-FR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anose="05020102010507070707" pitchFamily="18" charset="2"/>
              </a:rPr>
              <a:t> 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(meilleure visualisation) </a:t>
            </a:r>
            <a:r>
              <a:rPr lang="fr-FR" dirty="0">
                <a:solidFill>
                  <a:srgbClr val="FF0000"/>
                </a:solidFill>
              </a:rPr>
              <a:t>ok</a:t>
            </a:r>
            <a:endParaRPr lang="fr-FR" b="1" dirty="0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endParaRPr lang="fr-FR" b="1" dirty="0">
              <a:solidFill>
                <a:schemeClr val="accent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fr-FR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Rapport d'avancement 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b="1" dirty="0">
                <a:solidFill>
                  <a:schemeClr val="accent2"/>
                </a:solidFill>
              </a:rPr>
              <a:t>Format Excel 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(+ nom saisisseur, date de </a:t>
            </a:r>
            <a:r>
              <a:rPr lang="fr-FR" sz="1600" dirty="0" err="1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sauvg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., état CA, </a:t>
            </a:r>
            <a:r>
              <a:rPr lang="fr-FR" sz="1600" i="1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.)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Nb et % enquêtes indirectes / estimées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endParaRPr lang="fr-FR" b="1" dirty="0">
              <a:solidFill>
                <a:schemeClr val="accent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fr-FR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Recherches &amp; tri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Filtre qualification enquête 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(directe / indirecte / estimée)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Tri ↓↑ sur toutes les colonnes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Outil recherche rapide </a:t>
            </a: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(loupe) </a:t>
            </a:r>
            <a:r>
              <a:rPr lang="fr-FR" dirty="0">
                <a:solidFill>
                  <a:srgbClr val="FF0000"/>
                </a:solidFill>
              </a:rPr>
              <a:t>(meilleur filtre à venir)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2"/>
                </a:solidFill>
              </a:rPr>
              <a:t>Filtre Armateur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6394C3-E7EA-48A3-9170-B80D3D269110}"/>
              </a:ext>
            </a:extLst>
          </p:cNvPr>
          <p:cNvSpPr txBox="1"/>
          <p:nvPr/>
        </p:nvSpPr>
        <p:spPr>
          <a:xfrm>
            <a:off x="8698961" y="3112822"/>
            <a:ext cx="4544048" cy="306237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sz="2000" b="1" dirty="0">
                <a:solidFill>
                  <a:schemeClr val="accent1"/>
                </a:solidFill>
              </a:rPr>
              <a:t>Onglet Généralités</a:t>
            </a:r>
          </a:p>
          <a:p>
            <a:pPr algn="l">
              <a:defRPr/>
            </a:pPr>
            <a:endParaRPr lang="fr-FR" sz="11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accent2"/>
                </a:solidFill>
              </a:rPr>
              <a:t>Espace commentaire à l'échelle du QM</a:t>
            </a:r>
          </a:p>
          <a:p>
            <a:pPr>
              <a:defRPr/>
            </a:pPr>
            <a:r>
              <a:rPr lang="fr-FR" dirty="0">
                <a:solidFill>
                  <a:srgbClr val="FF0000"/>
                </a:solidFill>
              </a:rPr>
              <a:t>(concept réseau social, salon discussion?)</a:t>
            </a:r>
          </a:p>
          <a:p>
            <a:pPr>
              <a:defRPr/>
            </a:pPr>
            <a:endParaRPr lang="fr-FR" dirty="0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Circuit de commercialisation 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(pertinence/utilisation des données en amont?)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kumimoji="0" lang="fr-FR" sz="1600" b="0" i="0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n-ea"/>
                <a:cs typeface="+mn-cs"/>
              </a:rPr>
              <a:t>« Partie/Totalité hors criée »</a:t>
            </a:r>
          </a:p>
          <a:p>
            <a:pPr lvl="1">
              <a:defRPr/>
            </a:pP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liste d’options à cocher </a:t>
            </a:r>
          </a:p>
          <a:p>
            <a:pPr lvl="1">
              <a:defRPr/>
            </a:pPr>
            <a:r>
              <a:rPr lang="fr-FR" sz="16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(Criée, Mareyeur, Autres)</a:t>
            </a:r>
            <a:endParaRPr kumimoji="0" lang="fr-FR" sz="1600" b="0" i="0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482373C-A1DF-4C1F-8FED-78DBDF33B72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13945E0-7681-4AFA-851B-CA3A4158F810}"/>
              </a:ext>
            </a:extLst>
          </p:cNvPr>
          <p:cNvSpPr txBox="1"/>
          <p:nvPr/>
        </p:nvSpPr>
        <p:spPr>
          <a:xfrm>
            <a:off x="8698961" y="1807484"/>
            <a:ext cx="4501846" cy="8463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sz="2000" b="1" dirty="0">
                <a:solidFill>
                  <a:schemeClr val="accent1"/>
                </a:solidFill>
              </a:rPr>
              <a:t>Onglet Navire</a:t>
            </a:r>
          </a:p>
          <a:p>
            <a:pPr algn="l">
              <a:defRPr/>
            </a:pPr>
            <a:endParaRPr lang="fr-FR" sz="1100" b="1" dirty="0">
              <a:solidFill>
                <a:schemeClr val="accent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Galerie photos du navire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(quasi prêt)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B4378D7-351A-4F9E-A4C3-E21A540A2D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93" y="1778909"/>
            <a:ext cx="405699" cy="47851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8771A983-AD26-4285-A1F0-26416FBE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452" y="1807484"/>
            <a:ext cx="541256" cy="54695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D8379118-7702-4F93-8211-AB9A0B1BFFF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553" y="3112821"/>
            <a:ext cx="494510" cy="61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6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B0AA43-2FC1-463A-B9F0-207DDF8178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42A7B0CF-AFB3-497D-B077-1B9D8B63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06" y="640901"/>
            <a:ext cx="11691721" cy="646331"/>
          </a:xfrm>
        </p:spPr>
        <p:txBody>
          <a:bodyPr/>
          <a:lstStyle/>
          <a:p>
            <a:r>
              <a:rPr lang="fr-FR" sz="4000" dirty="0"/>
              <a:t>Fonctionnalités supplémentaires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CE0CF5-B886-4B27-92E8-BD3198C5EED9}"/>
              </a:ext>
            </a:extLst>
          </p:cNvPr>
          <p:cNvSpPr txBox="1"/>
          <p:nvPr/>
        </p:nvSpPr>
        <p:spPr>
          <a:xfrm>
            <a:off x="821381" y="1416959"/>
            <a:ext cx="9532294" cy="513986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sz="2000" b="1" dirty="0">
                <a:solidFill>
                  <a:schemeClr val="accent1"/>
                </a:solidFill>
              </a:rPr>
              <a:t>Onglet Calendrier </a:t>
            </a:r>
          </a:p>
          <a:p>
            <a:pPr algn="l">
              <a:defRPr/>
            </a:pPr>
            <a:endParaRPr lang="fr-FR" sz="2000" b="1" dirty="0">
              <a:solidFill>
                <a:schemeClr val="accent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fr-FR" b="1" dirty="0">
                <a:solidFill>
                  <a:schemeClr val="accent2"/>
                </a:solidFill>
              </a:rPr>
              <a:t>Qualification enquête N-1</a:t>
            </a:r>
            <a:r>
              <a:rPr lang="fr-FR" dirty="0">
                <a:solidFill>
                  <a:schemeClr val="accent2"/>
                </a:solidFill>
              </a:rPr>
              <a:t> 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(directe/indirecte/estimée → fiabilité de la </a:t>
            </a:r>
            <a:r>
              <a:rPr lang="fr-FR" dirty="0" err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prédoc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b="1" dirty="0">
                <a:solidFill>
                  <a:schemeClr val="accent2"/>
                </a:solidFill>
              </a:rPr>
              <a:t>Ergonomie générale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1"/>
                </a:solidFill>
              </a:rPr>
              <a:t>Navigation avec les flèches du clavier </a:t>
            </a:r>
            <a:r>
              <a:rPr lang="fr-FR" dirty="0">
                <a:solidFill>
                  <a:srgbClr val="FF0000"/>
                </a:solidFill>
              </a:rPr>
              <a:t>(échap…)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1"/>
                </a:solidFill>
              </a:rPr>
              <a:t>Fonctionnalité Allegro « étaler les mois vers… » </a:t>
            </a:r>
            <a:r>
              <a:rPr lang="fr-FR" dirty="0">
                <a:solidFill>
                  <a:srgbClr val="FF0000"/>
                </a:solidFill>
              </a:rPr>
              <a:t>(Atelier : à voir si </a:t>
            </a:r>
            <a:r>
              <a:rPr lang="fr-FR" dirty="0" err="1">
                <a:solidFill>
                  <a:srgbClr val="FF0000"/>
                </a:solidFill>
              </a:rPr>
              <a:t>ctrl+m</a:t>
            </a:r>
            <a:r>
              <a:rPr lang="fr-FR" dirty="0">
                <a:solidFill>
                  <a:srgbClr val="FF0000"/>
                </a:solidFill>
              </a:rPr>
              <a:t>/c/v suffisent)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1"/>
                </a:solidFill>
              </a:rPr>
              <a:t>Fonction copier-coller 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ctrl+m</a:t>
            </a:r>
            <a:r>
              <a:rPr lang="fr-FR" dirty="0">
                <a:solidFill>
                  <a:srgbClr val="FF0000"/>
                </a:solidFill>
              </a:rPr>
              <a:t> – clic droit Allegro)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/>
            </a:pPr>
            <a:r>
              <a:rPr lang="fr-FR" i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Bloc-métiers 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/>
            </a:pPr>
            <a:r>
              <a:rPr lang="fr-FR" i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(zones + gradient) sur tous les métiers</a:t>
            </a:r>
            <a:endParaRPr lang="fr-FR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b="1" dirty="0" err="1">
                <a:solidFill>
                  <a:schemeClr val="accent2"/>
                </a:solidFill>
              </a:rPr>
              <a:t>MàJ</a:t>
            </a:r>
            <a:r>
              <a:rPr lang="fr-FR" b="1" dirty="0">
                <a:solidFill>
                  <a:schemeClr val="accent2"/>
                </a:solidFill>
              </a:rPr>
              <a:t> automatique des gradients </a:t>
            </a:r>
            <a:r>
              <a:rPr lang="fr-FR" dirty="0">
                <a:solidFill>
                  <a:schemeClr val="accent2"/>
                </a:solidFill>
              </a:rPr>
              <a:t>(fonctionnalité Allégro) </a:t>
            </a:r>
            <a:r>
              <a:rPr lang="fr-FR" dirty="0">
                <a:solidFill>
                  <a:srgbClr val="FF0000"/>
                </a:solidFill>
              </a:rPr>
              <a:t>à revoir (profondeur?)</a:t>
            </a:r>
          </a:p>
          <a:p>
            <a:pPr>
              <a:defRPr/>
            </a:pPr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dirty="0">
                <a:solidFill>
                  <a:srgbClr val="FF0000"/>
                </a:solidFill>
              </a:rPr>
              <a:t>Censé être ok avec last release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accent2"/>
                </a:solidFill>
              </a:rPr>
              <a:t>Ajout de zones de pêche supplémentaires 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 métiers au DCP) </a:t>
            </a:r>
            <a:r>
              <a:rPr lang="fr-FR" dirty="0">
                <a:solidFill>
                  <a:srgbClr val="FF0000"/>
                </a:solidFill>
              </a:rPr>
              <a:t>discret, au survole </a:t>
            </a:r>
            <a:r>
              <a:rPr lang="fr-FR" dirty="0" err="1">
                <a:solidFill>
                  <a:srgbClr val="FF0000"/>
                </a:solidFill>
              </a:rPr>
              <a:t>ZdP</a:t>
            </a:r>
            <a:endParaRPr lang="fr-FR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fr-FR" dirty="0">
              <a:solidFill>
                <a:schemeClr val="accent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accent2"/>
                </a:solidFill>
              </a:rPr>
              <a:t>Alertes à la saisie (navire actif)</a:t>
            </a:r>
            <a:r>
              <a:rPr lang="fr-FR" dirty="0">
                <a:solidFill>
                  <a:srgbClr val="FF0000"/>
                </a:solidFill>
              </a:rPr>
              <a:t> non bloquantes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1"/>
                </a:solidFill>
              </a:rPr>
              <a:t>Nb jrs de mer ˂ Nb jrs pêche </a:t>
            </a:r>
            <a:r>
              <a:rPr lang="fr-FR" dirty="0">
                <a:solidFill>
                  <a:srgbClr val="FF0000"/>
                </a:solidFill>
              </a:rPr>
              <a:t>ok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FR" dirty="0">
                <a:solidFill>
                  <a:schemeClr val="accent1"/>
                </a:solidFill>
              </a:rPr>
              <a:t>Gradient à la côte </a:t>
            </a:r>
            <a:r>
              <a:rPr lang="fr-FR" dirty="0">
                <a:solidFill>
                  <a:srgbClr val="FF0000"/>
                </a:solidFill>
              </a:rPr>
              <a:t>(saisie obligatoire) </a:t>
            </a:r>
            <a:r>
              <a:rPr lang="fr-FR" dirty="0">
                <a:solidFill>
                  <a:schemeClr val="accent1"/>
                </a:solidFill>
              </a:rPr>
              <a:t>indéterminé </a:t>
            </a:r>
          </a:p>
          <a:p>
            <a:pPr lvl="1">
              <a:defRPr/>
            </a:pPr>
            <a:r>
              <a:rPr lang="fr-FR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(erreur </a:t>
            </a:r>
            <a:r>
              <a:rPr lang="fr-F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prédoc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copiée-collée génère un vide censé être bloquant)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482373C-A1DF-4C1F-8FED-78DBDF33B72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Légende : encadrée à une bordure 5">
            <a:extLst>
              <a:ext uri="{FF2B5EF4-FFF2-40B4-BE49-F238E27FC236}">
                <a16:creationId xmlns:a16="http://schemas.microsoft.com/office/drawing/2014/main" id="{76F0A70B-7835-467A-8759-B835E5E4CFF8}"/>
              </a:ext>
            </a:extLst>
          </p:cNvPr>
          <p:cNvSpPr/>
          <p:nvPr/>
        </p:nvSpPr>
        <p:spPr>
          <a:xfrm>
            <a:off x="10561049" y="5292671"/>
            <a:ext cx="2686050" cy="971550"/>
          </a:xfrm>
          <a:prstGeom prst="accentBorderCallout1">
            <a:avLst>
              <a:gd name="adj1" fmla="val 52467"/>
              <a:gd name="adj2" fmla="val -3230"/>
              <a:gd name="adj3" fmla="val 55615"/>
              <a:gd name="adj4" fmla="val -68724"/>
            </a:avLst>
          </a:prstGeom>
          <a:solidFill>
            <a:schemeClr val="accent2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Contrôles par demandes d’extraction Harmonie</a:t>
            </a:r>
          </a:p>
        </p:txBody>
      </p:sp>
      <p:sp>
        <p:nvSpPr>
          <p:cNvPr id="9" name="Légende : encadrée à une bordure 8">
            <a:extLst>
              <a:ext uri="{FF2B5EF4-FFF2-40B4-BE49-F238E27FC236}">
                <a16:creationId xmlns:a16="http://schemas.microsoft.com/office/drawing/2014/main" id="{421EFA57-C1E3-4EAB-AE09-1E193698A5F6}"/>
              </a:ext>
            </a:extLst>
          </p:cNvPr>
          <p:cNvSpPr/>
          <p:nvPr/>
        </p:nvSpPr>
        <p:spPr>
          <a:xfrm>
            <a:off x="10561049" y="3609975"/>
            <a:ext cx="2686050" cy="1445097"/>
          </a:xfrm>
          <a:prstGeom prst="accentBorderCallout1">
            <a:avLst>
              <a:gd name="adj1" fmla="val 52467"/>
              <a:gd name="adj2" fmla="val -3230"/>
              <a:gd name="adj3" fmla="val 84582"/>
              <a:gd name="adj4" fmla="val -107315"/>
            </a:avLst>
          </a:prstGeom>
          <a:solidFill>
            <a:schemeClr val="accent2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Fausses incohérences avec données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ObsDeb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dans Valparaiso</a:t>
            </a:r>
          </a:p>
          <a:p>
            <a:pPr algn="ctr"/>
            <a:r>
              <a:rPr lang="fr-F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(besoin </a:t>
            </a:r>
            <a:r>
              <a:rPr lang="fr-FR" sz="1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évol</a:t>
            </a:r>
            <a:r>
              <a:rPr lang="fr-F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.) </a:t>
            </a:r>
            <a:endParaRPr lang="fr-F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4771598-A70E-4CFD-A7D4-9D602BF989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52" y="1428554"/>
            <a:ext cx="522010" cy="45136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A896D9-9F38-4E3E-8C31-A6B49F3C91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049" y="2999038"/>
            <a:ext cx="550273" cy="51393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57A221B-A179-422D-83A0-98D41192C1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12797" t="12979" r="13751" b="11857"/>
          <a:stretch/>
        </p:blipFill>
        <p:spPr>
          <a:xfrm>
            <a:off x="228365" y="4083522"/>
            <a:ext cx="512333" cy="5242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F6AB99F-7BE5-4BAC-985A-2767FD5E36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84" y="5187896"/>
            <a:ext cx="538191" cy="51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34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 descr="Une image contenant eau, bleu vert, Bleu électrique, Azure&#10;&#10;Description générée automatiquement">
            <a:extLst>
              <a:ext uri="{FF2B5EF4-FFF2-40B4-BE49-F238E27FC236}">
                <a16:creationId xmlns:a16="http://schemas.microsoft.com/office/drawing/2014/main" id="{95E5B886-2E81-5532-F361-D53F226B7E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44" b="27244"/>
          <a:stretch>
            <a:fillRect/>
          </a:stretch>
        </p:blipFill>
        <p:spPr>
          <a:xfrm>
            <a:off x="-2" y="1442721"/>
            <a:ext cx="13439775" cy="6116954"/>
          </a:xfr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70B768-E209-4BB7-97CC-EEC90052A7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0026" y="1675609"/>
            <a:ext cx="13239748" cy="655713"/>
          </a:xfrm>
        </p:spPr>
        <p:txBody>
          <a:bodyPr/>
          <a:lstStyle/>
          <a:p>
            <a:r>
              <a:rPr lang="fr-FR" sz="4000" b="1" dirty="0">
                <a:solidFill>
                  <a:schemeClr val="accent3"/>
                </a:solidFill>
              </a:rPr>
              <a:t>EVOLUTIONS Opus-activité</a:t>
            </a:r>
            <a:r>
              <a:rPr lang="fr-FR" sz="4000" dirty="0"/>
              <a:t>  Quelles sont les priorités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C12C5B-E899-3496-09FB-DDA1711632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96174" y="2264357"/>
            <a:ext cx="5943601" cy="114227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: Corrections / Améliorations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 : V2 → Evolutions nouvelles et majeures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87BFF2E-DB85-42AA-8161-C364A49DF275}"/>
              </a:ext>
            </a:extLst>
          </p:cNvPr>
          <p:cNvSpPr txBox="1"/>
          <p:nvPr/>
        </p:nvSpPr>
        <p:spPr>
          <a:xfrm>
            <a:off x="256744" y="2564210"/>
            <a:ext cx="6830150" cy="428264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Propositions prioritaires</a:t>
            </a:r>
            <a:endParaRPr lang="fr-F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Etat CA «vierge» + «Terminé » avec </a:t>
            </a:r>
            <a:r>
              <a:rPr lang="fr-FR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 2" panose="05020102010507070707" pitchFamily="18" charset="2"/>
              </a:rPr>
              <a:t></a:t>
            </a:r>
            <a:r>
              <a:rPr lang="fr-F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endParaRPr lang="fr-F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Filtres qualif. </a:t>
            </a:r>
            <a:r>
              <a:rPr lang="fr-F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enq</a:t>
            </a: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./état CA/</a:t>
            </a:r>
            <a:r>
              <a:rPr lang="fr-F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Armt</a:t>
            </a: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+ Tri colonnes</a:t>
            </a:r>
            <a:endParaRPr lang="fr-FR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Qualif. enquête N-1 en </a:t>
            </a:r>
            <a:r>
              <a:rPr lang="fr-F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Prédoc</a:t>
            </a:r>
            <a:endParaRPr lang="fr-FR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Rapport format Excel + nb-% </a:t>
            </a:r>
            <a:r>
              <a:rPr lang="fr-F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enq</a:t>
            </a: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indir./estimées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Ajout de zones de pêche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(+ de 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Ergonomie générale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(copier-coller Bloc-métiers, </a:t>
            </a: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MàJ</a:t>
            </a:r>
            <a:r>
              <a:rPr lang="fr-FR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gradient à la côte </a:t>
            </a:r>
            <a:r>
              <a:rPr lang="fr-F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(ISO, Allegro) =&gt; à poursuivre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Alertes à la saisie CA 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(abs. gradient, jr mer &lt; jr pêche)</a:t>
            </a:r>
            <a:endParaRPr lang="fr-F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6EA38F-86D0-4091-9AD4-A2E6CEF12196}"/>
              </a:ext>
            </a:extLst>
          </p:cNvPr>
          <p:cNvSpPr txBox="1"/>
          <p:nvPr/>
        </p:nvSpPr>
        <p:spPr>
          <a:xfrm>
            <a:off x="7648709" y="3583172"/>
            <a:ext cx="5591041" cy="230319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Propositions déjà émises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Mode hors-ligne</a:t>
            </a:r>
            <a:endParaRPr lang="fr-FR" sz="20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Galerie photo des navires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Cartographie</a:t>
            </a:r>
            <a:r>
              <a:rPr lang="fr-FR" sz="20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(Saisie des </a:t>
            </a:r>
            <a:r>
              <a:rPr lang="fr-FR" dirty="0" err="1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ZdP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 glissant secteurs dans CA) </a:t>
            </a:r>
            <a:endParaRPr lang="fr-FR" sz="20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7B106CC-64D0-4745-8E51-3CBBF6781598}"/>
              </a:ext>
            </a:extLst>
          </p:cNvPr>
          <p:cNvSpPr txBox="1"/>
          <p:nvPr/>
        </p:nvSpPr>
        <p:spPr>
          <a:xfrm>
            <a:off x="7648709" y="6116954"/>
            <a:ext cx="5591041" cy="12875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Propositions secondaires</a:t>
            </a:r>
            <a:endParaRPr lang="fr-F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de ventes </a:t>
            </a:r>
            <a:r>
              <a:rPr lang="fr-FR" sz="16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(liste d’options en cases à cocher)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Espace commentaires à l’échelle du QIM</a:t>
            </a:r>
          </a:p>
        </p:txBody>
      </p:sp>
    </p:spTree>
    <p:extLst>
      <p:ext uri="{BB962C8B-B14F-4D97-AF65-F5344CB8AC3E}">
        <p14:creationId xmlns:p14="http://schemas.microsoft.com/office/powerpoint/2010/main" val="26733800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IFREM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2C8"/>
      </a:accent1>
      <a:accent2>
        <a:srgbClr val="0064FF"/>
      </a:accent2>
      <a:accent3>
        <a:srgbClr val="FFEB3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IFREM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2C8"/>
      </a:accent1>
      <a:accent2>
        <a:srgbClr val="0064FF"/>
      </a:accent2>
      <a:accent3>
        <a:srgbClr val="FFEB3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8353</TotalTime>
  <Words>872</Words>
  <Application>Microsoft Office PowerPoint</Application>
  <PresentationFormat>Personnalisé</PresentationFormat>
  <Paragraphs>147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MV Boli</vt:lpstr>
      <vt:lpstr>Wingdings</vt:lpstr>
      <vt:lpstr>Thème Office</vt:lpstr>
      <vt:lpstr>1_Thème Office</vt:lpstr>
      <vt:lpstr>Présentation PowerPoint</vt:lpstr>
      <vt:lpstr>Présentation PowerPoint</vt:lpstr>
      <vt:lpstr>Satisfaction générale d'Opus Activité</vt:lpstr>
      <vt:lpstr>Satisfaction générale de l'appli et du support</vt:lpstr>
      <vt:lpstr>Satisfaction générale de l'appli et du support</vt:lpstr>
      <vt:lpstr>4 questions ouvertes</vt:lpstr>
      <vt:lpstr>Fonctionnalités supplémentaires</vt:lpstr>
      <vt:lpstr>Fonctionnalités supplémentaires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Jean-Christophe MOREAU</dc:creator>
  <cp:lastModifiedBy>Soizic LARRANAGA</cp:lastModifiedBy>
  <cp:revision>513</cp:revision>
  <dcterms:created xsi:type="dcterms:W3CDTF">2023-09-26T09:22:57Z</dcterms:created>
  <dcterms:modified xsi:type="dcterms:W3CDTF">2025-04-16T08:02:17Z</dcterms:modified>
</cp:coreProperties>
</file>